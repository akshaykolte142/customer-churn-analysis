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E2761"/>
                </a:solidFill>
                <a:latin typeface="Cambria"/>
              </a:defRPr>
            </a:pPr>
            <a:r>
              <a:rPr sz="1400" b="0" i="0" u="none" strike="noStrike">
                <a:solidFill>
                  <a:srgbClr val="1E2761"/>
                </a:solidFill>
                <a:latin typeface="Cambria"/>
              </a:rPr>
              <a:t>Cancellation Reasons (case count)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Cases</c:v>
                </c:pt>
              </c:strCache>
            </c:strRef>
          </c:tx>
          <c:spPr>
            <a:solidFill>
              <a:srgbClr val="D6455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D6455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Forgot to cancel trial</c:v>
                  </c:pt>
                  <c:pt idx="1">
                    <c:v>Too expensive</c:v>
                  </c:pt>
                  <c:pt idx="2">
                    <c:v>Poor streaming quality</c:v>
                  </c:pt>
                  <c:pt idx="3">
                    <c:v>Not enough content</c:v>
                  </c:pt>
                  <c:pt idx="4">
                    <c:v>Switched to competitor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18</c:v>
                </c:pt>
                <c:pt idx="1">
                  <c:v>17</c:v>
                </c:pt>
                <c:pt idx="2">
                  <c:v>16</c:v>
                </c:pt>
                <c:pt idx="3">
                  <c:v>14</c:v>
                </c:pt>
                <c:pt idx="4">
                  <c:v>13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3333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572000" cy="4572000"/>
          </a:xfrm>
          <a:prstGeom prst="ellipse">
            <a:avLst/>
          </a:prstGeom>
          <a:solidFill>
            <a:srgbClr val="141B49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389120"/>
            <a:ext cx="2926080" cy="2926080"/>
          </a:xfrm>
          <a:prstGeom prst="ellipse">
            <a:avLst/>
          </a:prstGeom>
          <a:solidFill>
            <a:srgbClr val="141B49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417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PROJECT  ·  DATA ANALYTICS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828800"/>
            <a:ext cx="9875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PlayWave Customer Churn Analysis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06324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221 subscriber records into a revenue-at-risk model that tells Retention exactly who to save first — and why they're really leaving.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4160520"/>
            <a:ext cx="10698480" cy="1143000"/>
          </a:xfrm>
          <a:prstGeom prst="roundRect">
            <a:avLst>
              <a:gd name="adj" fmla="val 4800"/>
            </a:avLst>
          </a:prstGeom>
          <a:solidFill>
            <a:srgbClr val="141B49"/>
          </a:solidFill>
          <a:ln w="15875">
            <a:solidFill>
              <a:srgbClr val="D6455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05840" y="4160520"/>
            <a:ext cx="10149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35.29% churned</a:t>
            </a:r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escalation–churn correlation just r = 0.08  ·  </a:t>
            </a:r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$1,715.22/mo</a:t>
            </a:r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revenue already lost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58064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Akshay Kolte</a:t>
            </a:r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Data Analyst
</a:t>
            </a:r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8C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· SQL · Python (pandas) · Matplotlib · Seaborn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6510528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C66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PlayWave is a fictional company created for this portfolio project. Dataset is synthetic; any resemblance to a real company is coincidental.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 BUILT THIS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Context &amp; Problem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94960" cy="4617720"/>
          </a:xfrm>
          <a:prstGeom prst="roundRect">
            <a:avLst>
              <a:gd name="adj" fmla="val 1584"/>
            </a:avLst>
          </a:prstGeom>
          <a:solidFill>
            <a:srgbClr val="F4F6F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7373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Context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148840"/>
            <a:ext cx="475488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modeled this project on PlayWave, a subscription streaming platform across India and Nepal offering Basic, Standard, and Premium tiers on Monthly and Annual contracts, acquiring subscribers through paid marketing, organic search, and referrals.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the kind of business where cancellations fluctuate quarter to quarter with no single, unified view of who's leaving or why.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72200" y="1508760"/>
            <a:ext cx="5468112" cy="4617720"/>
          </a:xfrm>
          <a:prstGeom prst="roundRect">
            <a:avLst>
              <a:gd name="adj" fmla="val 1584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92240" y="17373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492240" y="2194560"/>
            <a:ext cx="484632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consolidated view, retention, support, and pricing decisions get made without evidence. I designed this project to answer, with numbers: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Which plans &amp; geographies are highest-risk?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How much MRR is exposed?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Is the top complaint driver something support can actually fix?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Here's the end-to-end analysis I built to answer all three.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PlayWave Churn Analysis  ·  Akshay Kolte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47120" y="65379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 GOT THERE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&amp; Methodology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724912" cy="4114800"/>
          </a:xfrm>
          <a:prstGeom prst="roundRect">
            <a:avLst>
              <a:gd name="adj" fmla="val 2685"/>
            </a:avLst>
          </a:prstGeom>
          <a:solidFill>
            <a:srgbClr val="F4F6FB"/>
          </a:solidFill>
          <a:ln w="12700">
            <a:solidFill>
              <a:srgbClr val="E3E7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9202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514600"/>
            <a:ext cx="235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Extract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971800"/>
            <a:ext cx="235915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3 SQLite tables (Customer Master, Subscription, Support) into pandas via SQL queries.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83280" y="1691640"/>
            <a:ext cx="2724912" cy="4114800"/>
          </a:xfrm>
          <a:prstGeom prst="roundRect">
            <a:avLst>
              <a:gd name="adj" fmla="val 2685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11880" y="19202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61188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566160" y="2514600"/>
            <a:ext cx="235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566160" y="2971800"/>
            <a:ext cx="235915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Renamed columns, dropped irrelevant fields, fixed date dtypes, standardized categories, imputed missing country from state.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17920" y="1691640"/>
            <a:ext cx="2724912" cy="4114800"/>
          </a:xfrm>
          <a:prstGeom prst="roundRect">
            <a:avLst>
              <a:gd name="adj" fmla="val 2685"/>
            </a:avLst>
          </a:prstGeom>
          <a:solidFill>
            <a:srgbClr val="F4F6FB"/>
          </a:solidFill>
          <a:ln w="12700">
            <a:solidFill>
              <a:srgbClr val="E3E7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46520" y="19202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4652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0" y="2514600"/>
            <a:ext cx="235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Join &amp; Engineer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0" y="2971800"/>
            <a:ext cx="235915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Deduplicated support records, joined all sources into 221 customer records, engineered churn_flag, tenure_days, and Low/Med/High churn-risk tiers.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052560" y="1691640"/>
            <a:ext cx="2724912" cy="4114800"/>
          </a:xfrm>
          <a:prstGeom prst="roundRect">
            <a:avLst>
              <a:gd name="adj" fmla="val 2685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281160" y="1920240"/>
            <a:ext cx="457200" cy="457200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28116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9235440" y="2514600"/>
            <a:ext cx="235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Analyze &amp; Visualize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9235440" y="2971800"/>
            <a:ext cx="235915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 KPIs via groupby/pivot tables; visualized with Matplotlib &amp; Seaborn — trend lines, bar charts, boxplots, a correlation heatmap, pairplot, and catplot.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598932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 joined on customerid: Customer Master · Subscription · Customer Support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PlayWave Churn Analysis  ·  Akshay Kolte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1247120" y="65379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Churn &amp; Retention Snapshot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4F6FB"/>
          </a:solidFill>
          <a:ln w="9525">
            <a:solidFill>
              <a:srgbClr val="E3E7F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801368"/>
            <a:ext cx="2331720" cy="82204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64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35.29%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570378"/>
            <a:ext cx="2331720" cy="481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200400" y="169164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4F6FB"/>
          </a:solidFill>
          <a:ln w="9525">
            <a:solidFill>
              <a:srgbClr val="E3E7F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291840" y="1801368"/>
            <a:ext cx="2331720" cy="82204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64.71%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3291840" y="2570378"/>
            <a:ext cx="2331720" cy="481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Rate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852160" y="169164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4F6FB"/>
          </a:solidFill>
          <a:ln w="9525">
            <a:solidFill>
              <a:srgbClr val="E3E7F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43600" y="1801368"/>
            <a:ext cx="2331720" cy="82204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221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5943600" y="2570378"/>
            <a:ext cx="2331720" cy="481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Analyzed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503920" y="1691640"/>
            <a:ext cx="3108960" cy="1417320"/>
          </a:xfrm>
          <a:prstGeom prst="roundRect">
            <a:avLst>
              <a:gd name="adj" fmla="val 5161"/>
            </a:avLst>
          </a:prstGeom>
          <a:solidFill>
            <a:srgbClr val="F4F6FB"/>
          </a:solidFill>
          <a:ln w="9525">
            <a:solidFill>
              <a:srgbClr val="E3E7F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595360" y="1801368"/>
            <a:ext cx="2926080" cy="82204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64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78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8595360" y="2570378"/>
            <a:ext cx="2926080" cy="481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Churned Customers</a:t>
            </a:r>
            <a:endParaRPr lang="en-US" sz="115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3429000"/>
            <a:ext cx="7406640" cy="2615184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8503920" y="3429000"/>
            <a:ext cx="3108960" cy="2615184"/>
          </a:xfrm>
          <a:prstGeom prst="roundRect">
            <a:avLst>
              <a:gd name="adj" fmla="val 2797"/>
            </a:avLst>
          </a:prstGeom>
          <a:solidFill>
            <a:srgbClr val="F4F6FB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8732520" y="36118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 what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8732520" y="3931920"/>
            <a:ext cx="2651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Roughly 1 in 3 subscribers has cancelled. Quarterly churn is noisy with no single dominant spike — consistent with ongoing price/content friction rather than a one-off event.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PlayWave Churn Analysis  ·  Akshay Kolte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11247120" y="65379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Churn by Plan &amp; Contract Type</a:t>
            </a:r>
            <a:endParaRPr lang="en-US" sz="3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1640"/>
            <a:ext cx="5120640" cy="322783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989320" y="178308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64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Standard 40.24%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5989320" y="228600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36.25%   ·   Premium 27.12%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989320" y="2880360"/>
            <a:ext cx="5120640" cy="0"/>
          </a:xfrm>
          <a:prstGeom prst="line">
            <a:avLst/>
          </a:prstGeom>
          <a:noFill/>
          <a:ln w="12700">
            <a:solidFill>
              <a:srgbClr val="E3E7F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989320" y="306324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Annual 37.38%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5989320" y="356616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Monthly 33.33%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989320" y="4251960"/>
            <a:ext cx="5577840" cy="1417320"/>
          </a:xfrm>
          <a:prstGeom prst="roundRect">
            <a:avLst>
              <a:gd name="adj" fmla="val 5161"/>
            </a:avLst>
          </a:prstGeom>
          <a:solidFill>
            <a:srgbClr val="F4F6FB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263640" y="4389120"/>
            <a:ext cx="502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what: Standard-plan, Annual-contract subscribers are the highest-value group to protect — enough churn to feel it, enough tenure left to make retention worthwhile.</a:t>
            </a:r>
            <a:endParaRPr lang="en-US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PlayWave Churn Analysis  ·  Akshay Kolte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11247120" y="65379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Customers Say They're Leaving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91640"/>
          <a:ext cx="694944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818120" y="1691640"/>
            <a:ext cx="3794760" cy="4023360"/>
          </a:xfrm>
          <a:prstGeom prst="roundRect">
            <a:avLst>
              <a:gd name="adj" fmla="val 1928"/>
            </a:avLst>
          </a:prstGeom>
          <a:solidFill>
            <a:srgbClr val="1E2761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092440" y="19202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Win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8092440" y="228600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 customers</a:t>
            </a:r>
            <a:endParaRPr lang="en-US" sz="19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forgot to cancel their trial.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8092440" y="3429000"/>
            <a:ext cx="3291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a process fix, not a product problem — a pre-conversion reminder and a one-click cancel path is the fastest, cheapest win in this dataset.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PlayWave Churn Analysis  ·  Akshay Kolte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1247120" y="65379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at Risk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06040" cy="1280160"/>
          </a:xfrm>
          <a:prstGeom prst="roundRect">
            <a:avLst>
              <a:gd name="adj" fmla="val 5714"/>
            </a:avLst>
          </a:prstGeom>
          <a:solidFill>
            <a:srgbClr val="F4F6FB"/>
          </a:solidFill>
          <a:ln w="9525">
            <a:solidFill>
              <a:srgbClr val="E3E7F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801368"/>
            <a:ext cx="2423160" cy="74249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64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$1,715.22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485339"/>
            <a:ext cx="2423160" cy="435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Lost / mo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246120" y="1691640"/>
            <a:ext cx="2606040" cy="1280160"/>
          </a:xfrm>
          <a:prstGeom prst="roundRect">
            <a:avLst>
              <a:gd name="adj" fmla="val 5714"/>
            </a:avLst>
          </a:prstGeom>
          <a:solidFill>
            <a:srgbClr val="F4F6FB"/>
          </a:solidFill>
          <a:ln w="9525">
            <a:solidFill>
              <a:srgbClr val="E3E7F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337560" y="1801368"/>
            <a:ext cx="2423160" cy="74249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$21.94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3337560" y="2485339"/>
            <a:ext cx="2423160" cy="435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ARPU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943600" y="1691640"/>
            <a:ext cx="2606040" cy="1280160"/>
          </a:xfrm>
          <a:prstGeom prst="roundRect">
            <a:avLst>
              <a:gd name="adj" fmla="val 5714"/>
            </a:avLst>
          </a:prstGeom>
          <a:solidFill>
            <a:srgbClr val="F4F6FB"/>
          </a:solidFill>
          <a:ln w="9525">
            <a:solidFill>
              <a:srgbClr val="E3E7F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035040" y="1801368"/>
            <a:ext cx="2423160" cy="74249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$3,134.57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6035040" y="2485339"/>
            <a:ext cx="2423160" cy="435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 (Active Users)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641080" y="1691640"/>
            <a:ext cx="2971800" cy="1280160"/>
          </a:xfrm>
          <a:prstGeom prst="roundRect">
            <a:avLst>
              <a:gd name="adj" fmla="val 5714"/>
            </a:avLst>
          </a:prstGeom>
          <a:solidFill>
            <a:srgbClr val="F4F6FB"/>
          </a:solidFill>
          <a:ln w="9525">
            <a:solidFill>
              <a:srgbClr val="E3E7F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732520" y="1801368"/>
            <a:ext cx="2788920" cy="74249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$1,439.62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8732520" y="2485339"/>
            <a:ext cx="2788920" cy="435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CLTV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246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at Risk by Plan × Churn-Risk Tier (monthly charges)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657600"/>
          <a:ext cx="7498080" cy="1737360"/>
        </p:xfrm>
        <a:graphic>
          <a:graphicData uri="http://schemas.openxmlformats.org/drawingml/2006/table">
            <a:tbl>
              <a:tblPr/>
              <a:tblGrid>
                <a:gridCol w="2499360"/>
                <a:gridCol w="2499360"/>
                <a:gridCol w="2499360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Charges at Risk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High-Risk Tier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$1,891.18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D64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$685.73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$1,843.20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$514.75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Premium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$1,115.41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$217.84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8" name="Shape 15"/>
          <p:cNvSpPr/>
          <p:nvPr/>
        </p:nvSpPr>
        <p:spPr>
          <a:xfrm>
            <a:off x="8275320" y="3657600"/>
            <a:ext cx="3337560" cy="17373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8503920" y="3794760"/>
            <a:ext cx="2880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what: Standard plan carries the single largest high-risk exposure — the first stop for proactive retention outreach.</a:t>
            </a:r>
            <a:endParaRPr lang="en-US" sz="1250" dirty="0"/>
          </a:p>
        </p:txBody>
      </p:sp>
      <p:sp>
        <p:nvSpPr>
          <p:cNvPr id="20" name="Text 17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PlayWave Churn Analysis  ·  Akshay Kolte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11247120" y="65379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5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 Isn't the Churn Driver</a:t>
            </a:r>
            <a:endParaRPr lang="en-US" sz="3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91640"/>
            <a:ext cx="4297680" cy="360273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257800" y="1691640"/>
            <a:ext cx="6355080" cy="1188720"/>
          </a:xfrm>
          <a:prstGeom prst="roundRect">
            <a:avLst>
              <a:gd name="adj" fmla="val 6154"/>
            </a:avLst>
          </a:prstGeom>
          <a:solidFill>
            <a:srgbClr val="F4F6FB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532120" y="1691640"/>
            <a:ext cx="5852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64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= 0.08</a:t>
            </a:r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escalation ↔ churn correlation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5257800" y="3063240"/>
            <a:ext cx="6355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rate 13.12%   ·   Avg CSAT 49.46   ·   Avg complaints/user 0.46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257800" y="3611880"/>
            <a:ext cx="6355080" cy="2103120"/>
          </a:xfrm>
          <a:prstGeom prst="roundRect">
            <a:avLst>
              <a:gd name="adj" fmla="val 3478"/>
            </a:avLst>
          </a:prstGeom>
          <a:solidFill>
            <a:srgbClr val="1E2761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532120" y="379476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 what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5532120" y="4160520"/>
            <a:ext cx="5760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quality is effectively unrelated to whether someone churns. The heatmap confirms churn_score (r = 0.88–0.94) — not escalations or CSAT — is what actually tracks with cancellation. Retention budget belongs in pricing and content, not support headcount.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PlayWave Churn Analysis  ·  Akshay Kolte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11247120" y="65379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6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High-Risk Segments &amp; Geography</a:t>
            </a:r>
            <a:endParaRPr lang="en-US" sz="3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1640"/>
            <a:ext cx="3246120" cy="339242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5138928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30.8% of customers already sit in the High-Risk tier.</a:t>
            </a:r>
            <a:endParaRPr lang="en-US" sz="11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0520" y="1965960"/>
            <a:ext cx="7315200" cy="287121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160520" y="4937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Karnataka (50.00%) and Delhi (41.86%) churn highest; Kathmandu (24.00%) is the most stable market.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4160520" y="5486400"/>
            <a:ext cx="7315200" cy="868680"/>
          </a:xfrm>
          <a:prstGeom prst="roundRect">
            <a:avLst>
              <a:gd name="adj" fmla="val 8421"/>
            </a:avLst>
          </a:prstGeom>
          <a:solidFill>
            <a:srgbClr val="F4F6FB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4389120" y="5486400"/>
            <a:ext cx="6858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 channel:  </a:t>
            </a:r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 38.81%  ·  Paid 37.50%  ·  Organic 30.49% — organic subscribers churn least.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PlayWave Churn Analysis  ·  Akshay Kolte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11247120" y="65379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5120640"/>
            <a:ext cx="3840480" cy="3840480"/>
          </a:xfrm>
          <a:prstGeom prst="ellipse">
            <a:avLst/>
          </a:prstGeom>
          <a:solidFill>
            <a:srgbClr val="141B4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DO NEXT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457200" cy="457200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463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Prioritize Standard-plan, Annual-contract outreach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18013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churn (40.24%) and largest high-risk exposure ($685.73) — reach out proactively before renewal.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450592"/>
            <a:ext cx="457200" cy="457200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24505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2404872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 the trial-cancellation flow first</a:t>
            </a:r>
            <a:endParaRPr lang="en-US" sz="155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cases lost to a process gap — add a pre-conversion reminder and one-click cancel. Fastest win available.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392424"/>
            <a:ext cx="457200" cy="457200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33924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33467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Redirect budget from support to price &amp; content</a:t>
            </a:r>
            <a:endParaRPr lang="en-US" sz="155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3685032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Escalation-churn correlation is only 0.08 — "too expensive" and "not enough content" are the real levers.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4334256"/>
            <a:ext cx="457200" cy="457200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48640" y="43342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428853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Sequence High-Risk outreach by revenue</a:t>
            </a:r>
            <a:endParaRPr lang="en-US" sz="1550" dirty="0"/>
          </a:p>
        </p:txBody>
      </p:sp>
      <p:sp>
        <p:nvSpPr>
          <p:cNvPr id="20" name="Text 18"/>
          <p:cNvSpPr txBox="1"/>
          <p:nvPr/>
        </p:nvSpPr>
        <p:spPr>
          <a:xfrm>
            <a:off x="1188720" y="462686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30.8% of customers are High-Risk — work Standard, then Basic, then Premium, in that order.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5276088"/>
            <a:ext cx="457200" cy="457200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48640" y="5276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1188720" y="52303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Pilot fixes in Karnataka &amp; Delhi first</a:t>
            </a:r>
            <a:endParaRPr lang="en-US" sz="1550" dirty="0"/>
          </a:p>
        </p:txBody>
      </p:sp>
      <p:sp>
        <p:nvSpPr>
          <p:cNvPr id="24" name="Text 22"/>
          <p:cNvSpPr txBox="1"/>
          <p:nvPr/>
        </p:nvSpPr>
        <p:spPr>
          <a:xfrm>
            <a:off x="1188720" y="556869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states churn well above the 35.29% baseline — the fastest place to prove a fix works.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Akshay Kolte  ·  Data Analyst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PlayWave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Akshay Kolte</dc:creator>
  <cp:lastModifiedBy>Akshay Kolte</cp:lastModifiedBy>
  <cp:revision>1</cp:revision>
  <dcterms:created xsi:type="dcterms:W3CDTF">2026-09-16T08:28:58Z</dcterms:created>
  <dcterms:modified xsi:type="dcterms:W3CDTF">2026-09-16T08:28:58Z</dcterms:modified>
</cp:coreProperties>
</file>